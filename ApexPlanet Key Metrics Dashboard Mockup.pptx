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Inter"/>
      <p:bold r:id="rId5"/>
    </p:embeddedFont>
    <p:embeddedFont>
      <p:font typeface="Plus Jakarta Sans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 snapToGrid="0" snapToObjects="1">
      <p:cViewPr>
        <p:scale>
          <a:sx n="66" d="100"/>
          <a:sy n="66" d="100"/>
        </p:scale>
        <p:origin x="644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15475" y="419100"/>
            <a:ext cx="2066925" cy="5715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31677"/>
            <a:ext cx="2614612" cy="119062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5662" y="2231677"/>
            <a:ext cx="2614612" cy="119062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1725" y="2231677"/>
            <a:ext cx="2614612" cy="119062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7787" y="2231677"/>
            <a:ext cx="2614612" cy="119062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379565"/>
            <a:ext cx="5837932" cy="2059185"/>
          </a:xfrm>
          <a:prstGeom prst="roundRect">
            <a:avLst>
              <a:gd name="adj" fmla="val 462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38032" y="4379565"/>
            <a:ext cx="4944367" cy="2059185"/>
          </a:xfrm>
          <a:prstGeom prst="roundRect">
            <a:avLst>
              <a:gd name="adj" fmla="val 462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4932015"/>
            <a:ext cx="1235719" cy="1009650"/>
          </a:xfrm>
          <a:prstGeom prst="roundRect">
            <a:avLst>
              <a:gd name="adj" fmla="val 75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16794" y="4932015"/>
            <a:ext cx="1235719" cy="1009650"/>
          </a:xfrm>
          <a:prstGeom prst="roundRect">
            <a:avLst>
              <a:gd name="adj" fmla="val 75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85864" y="4932015"/>
            <a:ext cx="1235719" cy="1009650"/>
          </a:xfrm>
          <a:prstGeom prst="roundRect">
            <a:avLst>
              <a:gd name="adj" fmla="val 75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54934" y="4932015"/>
            <a:ext cx="1254769" cy="1009650"/>
          </a:xfrm>
          <a:prstGeom prst="roundRect">
            <a:avLst>
              <a:gd name="adj" fmla="val 7547"/>
            </a:avLst>
          </a:prstGeom>
          <a:solidFill>
            <a:srgbClr val="0F172A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76157" y="4912965"/>
            <a:ext cx="4468117" cy="371475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76157" y="5379690"/>
            <a:ext cx="4468117" cy="371475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7" y="2412652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2412652"/>
            <a:ext cx="1143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862" y="2412652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1875" y="2412652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19100"/>
            <a:ext cx="8846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EXECUTIVE DASHBOARD MOCK-UP · APEXPLANET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38175"/>
            <a:ext cx="928866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Executive Key Metrics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083915"/>
            <a:ext cx="8846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Consolidated performance overview, annual revenue velocity, and headline benchmark scorecard.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0206" y="523875"/>
            <a:ext cx="2131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1" i="0" u="none">
                <a:solidFill>
                  <a:srgbClr val="94A3B8"/>
                </a:solidFill>
                <a:latin typeface="Inter"/>
              </a:rPr>
              <a:t>TELEMETRY TIMEFRAME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0206" y="695325"/>
            <a:ext cx="21312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 u="none">
                <a:solidFill>
                  <a:srgbClr val="38BDF8"/>
                </a:solidFill>
                <a:latin typeface="Inter"/>
              </a:rPr>
              <a:t>FY2025 · 1,000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641252"/>
            <a:ext cx="2768203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 dirty="0">
                <a:solidFill>
                  <a:srgbClr val="FFFFFF"/>
                </a:solidFill>
                <a:latin typeface="Inter"/>
              </a:rPr>
              <a:t>₹139.4M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3079402"/>
            <a:ext cx="276820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Target: ₹160.0M · 87.1% Pacing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5687" y="2641252"/>
            <a:ext cx="2768203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FFFFFF"/>
                </a:solidFill>
                <a:latin typeface="Inter"/>
              </a:rPr>
              <a:t>₹139.4K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5687" y="3079402"/>
            <a:ext cx="276820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Median: ₹108.6K (Skewed Mean)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2641252"/>
            <a:ext cx="2768203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FFFFFF"/>
                </a:solidFill>
                <a:latin typeface="Inter"/>
              </a:rPr>
              <a:t>5,435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3079402"/>
            <a:ext cx="276820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5.43 Units / Average Basket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7812" y="2641252"/>
            <a:ext cx="2768203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FFFFFF"/>
                </a:solidFill>
                <a:latin typeface="Inter"/>
              </a:rPr>
              <a:t>24.8%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7812" y="3079402"/>
            <a:ext cx="276820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Target: 35.0% by FY2026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157" y="4579590"/>
            <a:ext cx="53158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Basket Dispersion &amp; Outliers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25" y="2412652"/>
            <a:ext cx="1881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Inter"/>
              </a:rPr>
              <a:t>GROSS REVENUE (GMV)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5687" y="2412652"/>
            <a:ext cx="1881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Inter"/>
              </a:rPr>
              <a:t>AVERAGE ORDER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0" y="2412652"/>
            <a:ext cx="1535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Inter"/>
              </a:rPr>
              <a:t>DISPATCHED UNITS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7812" y="2412652"/>
            <a:ext cx="1714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Inter"/>
              </a:rPr>
              <a:t>REPEAT BUYER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4579590"/>
            <a:ext cx="321290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Quarterly Revenue Trajectory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3532" y="4612927"/>
            <a:ext cx="1607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MoM Positive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157" y="5865465"/>
            <a:ext cx="4563367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Institutional hardware orders elevate overall revenue while median baskets center around ₹108.6K.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5046315"/>
            <a:ext cx="125476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94A3B8"/>
                </a:solidFill>
                <a:latin typeface="Inter"/>
              </a:rPr>
              <a:t>Q1 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5236815"/>
            <a:ext cx="125476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Inter"/>
              </a:rPr>
              <a:t>₹29.1M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5503515"/>
            <a:ext cx="125476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Post-Holiday 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07269" y="5046315"/>
            <a:ext cx="125476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94A3B8"/>
                </a:solidFill>
                <a:latin typeface="Inter"/>
              </a:rPr>
              <a:t>Q2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7269" y="5236815"/>
            <a:ext cx="125476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Inter"/>
              </a:rPr>
              <a:t>₹33.8M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07269" y="5503515"/>
            <a:ext cx="125476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Education Surge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76339" y="5046315"/>
            <a:ext cx="125476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94A3B8"/>
                </a:solidFill>
                <a:latin typeface="Inter"/>
              </a:rPr>
              <a:t>Q3 REVENUE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76339" y="5236815"/>
            <a:ext cx="125476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Inter"/>
              </a:rPr>
              <a:t>₹36.2M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76339" y="5503515"/>
            <a:ext cx="125476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Festive Stocking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4934" y="5055840"/>
            <a:ext cx="125476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Inter"/>
              </a:rPr>
              <a:t>Q4 REVENUE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4934" y="5246340"/>
            <a:ext cx="125476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Inter"/>
              </a:rPr>
              <a:t>₹40.3M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4934" y="5513040"/>
            <a:ext cx="125476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Inter"/>
              </a:rPr>
              <a:t>Electronics Peak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9507" y="5008215"/>
            <a:ext cx="194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19 High-Ticket Outliers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96500" y="5008215"/>
            <a:ext cx="14001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Orders &gt; ₹350K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09507" y="5474940"/>
            <a:ext cx="209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Mean-to-Median Spread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91700" y="5474940"/>
            <a:ext cx="1774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+28.4% Mean Skew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48350"/>
            <a:ext cx="10972800" cy="590550"/>
          </a:xfrm>
          <a:prstGeom prst="roundRect">
            <a:avLst>
              <a:gd name="adj" fmla="val 645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66900"/>
            <a:ext cx="6049267" cy="3114675"/>
          </a:xfrm>
          <a:prstGeom prst="roundRect">
            <a:avLst>
              <a:gd name="adj" fmla="val 36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848350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01767" y="2109787"/>
            <a:ext cx="4580632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01767" y="3700462"/>
            <a:ext cx="4580632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2724150"/>
            <a:ext cx="54968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3200400"/>
            <a:ext cx="54968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3676650"/>
            <a:ext cx="54968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5825" y="4152900"/>
            <a:ext cx="54968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5825" y="4629150"/>
            <a:ext cx="5496817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825" y="2724150"/>
            <a:ext cx="2138213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5825" y="3200400"/>
            <a:ext cx="1121271" cy="114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5825" y="3676650"/>
            <a:ext cx="939849" cy="1143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5825" y="4152900"/>
            <a:ext cx="720030" cy="1143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5825" y="4629150"/>
            <a:ext cx="577155" cy="1143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DIMENSIONAL PERFORMANCE · COMMERCE &amp; GEOGRAPHY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91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Category Velocity &amp; Regional Hub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962650"/>
            <a:ext cx="1064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Key Operational Takeaway: Electronics drives nearly 40% of GMV while regional demand centers cluster around Eastern and Western industrial transit corridors.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105025"/>
            <a:ext cx="34004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Revenue by Product Vertical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317" y="2105025"/>
            <a:ext cx="19335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Inter"/>
              </a:rPr>
              <a:t>100% Volume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892" y="2309812"/>
            <a:ext cx="49521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Top 3 Demand Hubs (Above City Average)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892" y="3881437"/>
            <a:ext cx="49521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Growth Corridors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892" y="4176712"/>
            <a:ext cx="495210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Hyderabad (125) · Delhi (125) · Bengaluru (122)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892" y="4395787"/>
            <a:ext cx="495210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Tier-1 cities account for 39.9% of total order volume.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892" y="2624137"/>
            <a:ext cx="12001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1. Patna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7900" y="2624137"/>
            <a:ext cx="1845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135 Orders · ₹19.2M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892" y="2890837"/>
            <a:ext cx="13525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2. Kolkata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7900" y="2890837"/>
            <a:ext cx="1845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133 Orders · ₹18.9M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892" y="3157537"/>
            <a:ext cx="14001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3. Mumbai 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6950" y="3157537"/>
            <a:ext cx="1821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131 Orders · ₹18.4M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2495550"/>
            <a:ext cx="2797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Electronics (Laptops, Mobiles)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9517" y="2495550"/>
            <a:ext cx="2678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₹54.2M · 38.9% (1,978 Units)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825" y="2971800"/>
            <a:ext cx="2667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Education (Reference Books)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4292" y="2971800"/>
            <a:ext cx="25479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₹28.5M · 20.4% (977 Units)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3448050"/>
            <a:ext cx="2643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Furniture (Ergonomic Chairs)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9542" y="3448050"/>
            <a:ext cx="2428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₹23.8M · 17.1% (855 Units)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" y="3924300"/>
            <a:ext cx="2583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Grocery (Bulk Commodities)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9542" y="3924300"/>
            <a:ext cx="2428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₹18.2M · 13.1% (826 Units)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825" y="4400550"/>
            <a:ext cx="2571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Fashion (Footwear, Apparel)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0967" y="4400550"/>
            <a:ext cx="2464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₹14.7M · 10.5% (799 Units)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19625"/>
            <a:ext cx="10972800" cy="1819275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81212"/>
            <a:ext cx="3530649" cy="1457325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081212"/>
            <a:ext cx="3530649" cy="1457325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081212"/>
            <a:ext cx="3530649" cy="1457325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5153025"/>
            <a:ext cx="2509837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09962" y="5153025"/>
            <a:ext cx="2509837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5153025"/>
            <a:ext cx="2509837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34437" y="5153025"/>
            <a:ext cx="2509837" cy="108585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5310187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2" y="5310187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50" y="5310187"/>
            <a:ext cx="1905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787" y="5310187"/>
            <a:ext cx="1143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CUSTOMER ANALYTICS &amp; GOVERNANCE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91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Demographic Cohorts &amp; Proposed KPI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19650"/>
            <a:ext cx="11344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Recommended KPI Architecture for Weekly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281237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PRIMARY VOLUME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471737"/>
            <a:ext cx="410891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Young Adults (26–35)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795587"/>
            <a:ext cx="322584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Represents 35% of total orders with high purchasing velocity in Electronics and Apparel.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774" y="2281237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PREMIUM TICKET COHORT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774" y="2471737"/>
            <a:ext cx="410891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Senior Buyers (51+)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774" y="2795587"/>
            <a:ext cx="32258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Delivers highest AOV at ₹154.2K, commanding premium Furniture and IT selections.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1924" y="2281237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GENDER SPEND PARITY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1924" y="2471737"/>
            <a:ext cx="39400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50.2% Male / 49.8% Female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1924" y="2795587"/>
            <a:ext cx="32258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Strict parity across categories confirming broad universal demographic brand adoption.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" y="554355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Gross Merchandise Value (GMV)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5743575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MoM Revenue Growth Rate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075" y="594360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Average Order Value (AOV)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3312" y="554355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Repeat Customer Ratio (24.8%)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3312" y="5743575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Multi-Order Purchase 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3312" y="594360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Age Cohort Spend Velocity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5550" y="554355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Vertical Revenue Share (%)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5743575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Product Rank by 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5550" y="594360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Outlier Basket Volume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7787" y="554355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Tier-1 City Volume Share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7787" y="5743575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Top 3 City GMV by 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7787" y="5943600"/>
            <a:ext cx="280392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Regional Pacing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9675" y="5286375"/>
            <a:ext cx="17002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Financial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10012" y="5286375"/>
            <a:ext cx="17377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Retention Suite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250" y="5286375"/>
            <a:ext cx="16502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Merchandising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8287" y="5286375"/>
            <a:ext cx="16127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 Regional Hubs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481</Words>
  <Application>Microsoft Office PowerPoint</Application>
  <PresentationFormat>Widescreen</PresentationFormat>
  <Paragraphs>90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Plus Jakarta Sans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Manik</cp:lastModifiedBy>
  <cp:revision>2</cp:revision>
  <dcterms:created xsi:type="dcterms:W3CDTF">2013-01-27T09:14:16Z</dcterms:created>
  <dcterms:modified xsi:type="dcterms:W3CDTF">2026-10-13T11:34:34Z</dcterms:modified>
  <cp:category/>
</cp:coreProperties>
</file>